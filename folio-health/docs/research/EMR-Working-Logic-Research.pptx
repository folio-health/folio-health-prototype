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0E6B5C"/>
                </a:solidFill>
                <a:latin typeface="Segoe UI"/>
              </a:rPr>
              <a:t>EMR Working-Logic Research</a:t>
            </a:r>
          </a:p>
          <a:p>
            <a:r>
              <a:rPr sz="1700">
                <a:solidFill>
                  <a:srgbClr val="1F2A28"/>
                </a:solidFill>
                <a:latin typeface="Segoe UI"/>
              </a:rPr>
              <a:t>How production EMRs (Epic, Cerner, athenahealth, MEDITECH, OpenMRS, Medplum) design every day-to-day hospital workflow — appointments to sign-out.</a:t>
            </a:r>
          </a:p>
          <a:p>
            <a:r>
              <a:rPr sz="1300">
                <a:solidFill>
                  <a:srgbClr val="5A6663"/>
                </a:solidFill>
                <a:latin typeface="Segoe UI"/>
              </a:rPr>
              <a:t>Three research reports · state machines, actors, business rules, FHIR mappings · sources cited on every section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Folio Health · August 2026 · full text in docs/research/*.md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E6B5C"/>
                </a:solidFill>
                <a:latin typeface="Segoe UI"/>
              </a:rPr>
              <a:t>Front-Office Workflows</a:t>
            </a:r>
          </a:p>
          <a:p>
            <a:r>
              <a:rPr sz="1500">
                <a:solidFill>
                  <a:srgbClr val="5A6663"/>
                </a:solidFill>
                <a:latin typeface="Segoe UI"/>
              </a:rPr>
              <a:t>Appointments · Registration &amp; Identity · Check-In &amp; Queuing · Walk-Ins &amp; Triage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1. Appointment Scheduling  (1/4)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Front-Office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Actors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Scheduler / access-center agent — searches availability, books, cancels, reschedules; in Epic, central scheduling teams work across departments with Snapboard/Day View dashboards.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Template builder / department scheduling admin — a distinct, privileged role that owns provider templates and blocks (Epic sites run formal template change-management SOPs, e.g. VUMC's).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Front-desk receptionist — books follow-ups at check-out, marks arrivals/no-shows.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Patient — self-schedules via portal (Epic MyChart; 35–50% of volume can shift to self-scheduling when templates permit it).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Provider/resource — owns the schedule being booked against; in FHIR terms, the Schedule.actor.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State machine / lifecycle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FHIR canonical statuses (Appointment.status, R4+): proposed → pending → booked → checked-in / arrived → fulfilled, with exits to cancelled, noshow, entered-in-error, plus waitlist (HL7 R4 Appointment). The spec's booking dance: discover the Schedule, optionally query Slots, create the Appointment as proposed with all participants at needs-action; each participant answers via AppointmentResponse (accepted/declined/tentative); once responses are in, the appointment consolidates to booked. Production systems in practice skip the proposed/pending negotiation — the scheduler creates the appointment directly as booked because the front office is the authority for all participants.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What vendors actually use: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1. Appointment Scheduling  (2/4)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Front-Office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Oracle Cerner Millennium exposes exactly the FHIR set (proposed, pending, booked, arrived, fulfilled, cancelled, noshow, entered-in-error, checked-in, waitlist) in its Millennium FHIR Appointment API. Natively, the Scheduling Appointment Book supports right-click actions Hold, Confirm, Check In, Check Out, Cancel, Reschedule; check-out is blocked unless the appointment is in Checked-In status, and Reschedule moves the appointment into a "Work In Progress" tray to be re-placed rather than deleting it. Appointments requiring prior authorization sit in a Pending Confirmation state until a clerk confirms with the associated authorization.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athenahealth uses a much flatter, billing-driven lifecycle: f (future) → o (open, i.e. today/bookable) → 2 (checked in) → 3 (checked out) → 4 (charge entered), plus x (cancelled). Notably there is no automatic no-show state: a past appointment that was never checked in stays f, and "it is up to a practice to cancel appointments as a no show" explicitly (athenahealth Appointments docs). This is a useful design lesson: no-show is a decision, not a timeout.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OpenMRS/Bahmni appointments module: Scheduled → CheckedIn → Completed, with Missed and Cancelled reachable from both Scheduled and CheckedIn. Transition rules are enforced: Scheduled → {CheckedIn, Missed, Cancelled}; CheckedIn → {Completed, Missed, Cancelled}. Check-in is undoable back to Scheduled; Completed is terminal (Bahmni Manage Appointments).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Business rules &amp; edge cases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1. Appointment Scheduling  (3/4)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Front-Office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Slot/template model: Epic Cadence builds provider templates (recurring weekly availability per provider/location), overlaid with blocks — a block on a slot restricts which visit types can match it (e.g. a "new patient" block at 8am only accepts new-patient visit types). Visit types carry duration, instructions, and map to billing (Resolute); bad visit-type mapping is a documented cause of claim denials. Decision trees interview the scheduler (or patient in MyChart) to select correct visit type/provider automatically.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Overbooking: deliberate and permission-gated, not a free-for-all — Epic gates double-booking behind role-based security and per-template rules. FHIR models this with Slot.overbooked (boolean) — the slot stays visible but flagged.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Rescheduling: modeled as cancel + rebook with linkage, not in-place mutation. Cerner's Work-In-Progress tray makes this explicit; FHIR recommends cancelling and creating a new Appointment (R5 adds Appointment.replaces / cancellation with cancellationReason). Keep the cancelled record — it feeds no-show/cancellation analytics.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Wait list: FHIR pattern is two appointments — one booked in the available slot, one waitlist spanning the preferred window; if a better slot opens, the waitlisted one becomes booked and the original is cancelled. Epic automates this ("automated backfill" of cancelled slots; documented 18% slot-fill improvement).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Recurring visits: in FHIR R4 each occurrence is its own Appointment resource; R5 adds recurrenceTemplate, originatingAppointment, and occurrenceChanged to model series natively. Production systems (Cerner "recur," MEDITECH "series booking") book a series as N discrete appointments so each can be individually cancelled/rescheduled — model recurrence as a generator, not a single record.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Reminders/confirmation: multi-channel (SMS/email/IVR) with a separate confirmation status orthogonal to appointment status; confirmations reduce no-shows (Epic client: −17% to −22%). High no-show-risk patients get prompted to confirm or reschedule ahead of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1. Appointment Scheduling  (4/4)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Front-Office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Concurrency: Medplum's $book operation is the cleanest reference design — it atomically creates the Appointment, marks the Slot.status=busy, and creates buffer slots in one FHIR transaction under serializable isolation to prevent double-booking races; $find returns proposed Appointment candidates from Schedules (Medplum $book).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FHIR mapping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Schedule — container of availability for an actor (Practitioner/PractitionerRole/Location/HealthcareService) over a planningHorizon; ≙ Epic template.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Slot — bookable unit; status: free | busy | busy-unavailable | busy-tentative | entered-in-error; appointmentType/serviceType ≙ Epic block restricting visit types; overbooked flag.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Appointment — the booking; appointmentType ≙ visit type; participant.status + AppointmentResponse for multi-party negotiation; cancelationReason (R4).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Appointment is administrative only; the Encounter carries clinical meaning and is created at service start, not at booking.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2. Patient Registration &amp; Identity  (1/3)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Front-Office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Actors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Registrar / receptionist — creates records, captures demographics/insurance/guarantor; may flag suspected duplicates but does not merge.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HIM (Health Information Management) — owns the MPI: adjudicates duplicates, performs merges, corrects identity data errors, notifies downstream systems. This division of labor (registration creates, HIM corrects) is the industry norm.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EMPI/identity analysts — work potential-duplicate queues produced by the matching engine (Epic's Identity module).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State machine / lifecycle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1. Search-before-create (mandatory): registrar searches by name/DOB/sex/phone; Epic Prelude "search and match" runs before record creation; many systems pop a Potential Duplicate Records window listing near-matches at MRN creation time — the rule is use the existing MRN if a match exists.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2. Create → system assigns MRN (system-generated, never user-typed, never reused; enterprise systems keep a facility-level MRN plus an enterprise identifier — Epic's MPI sits in Prelude and links records across the organization).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3. Active record — demographics editable by registration within policy; identity-critical fields (legal name, DOB, SSN) are typically edit-restricted or audited; corrections that change who the record is route to HIM.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4. Flag for merge — front-end staff mark a suspected duplicate; it enters a review queue (Epic pattern: the "LINK MRN" is merged into the permanent MRN via the Patient Merge activity).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2. Patient Registration &amp; Identity  (2/3)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Front-Office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5. Merge (HIM) — analyst compares records, picks a survivor, executes electronic merge, combines any physical charts, and notifies ancillary systems/clinics so interfaces re-point. Unmerge must be supported because wrong merges (overlays) are patient-safety events.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6. Retired/duplicate record — deactivated, permanently pointing to the survivor.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Business rules &amp; edge cases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Matching algorithms — three tiers: deterministic (exact match; only ~20–40% effective at catching duplicates), rules-based weighting, and probabilistic — per-field weights, tolerance for transpositions/misspellings (phonetic + edit-distance), summed into a score with two thresholds: auto-merge above the upper, human-review queue in the middle band, distinct below the lower (ONC Patient Matching Final Report). Newer: referential matching against external identity databases, and Project US@ standardizing address format to improve match rates.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Duplicate vs overlay: duplicate = one person, two MRNs (fix = merge). Overlay = two people under one MRN (far more dangerous; fix = unmerge/split with clinical review). Best practice: auto-merge only high-confidence matches, queue the rest, preserve legacy identifiers.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What the receptionist may edit: contact info, address, phone, insurance, PCP, emergency contacts — freely. Legal name/DOB/sex changes usually require documentation and are audited; merges and MRN corrections are HIM-only.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Registration completeness is enforced by required-field checks (Epic Prelude captures demographics → guarantor → coverage → consents in sequence, one-time entry flowing downstream).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FHIR mapping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2. Patient Registration &amp; Identity  (3/3)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Front-Office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Patient with identifier (MRN, use=official, type=MR), Patient.active.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Patient.link types: replaced-by (on the retired duplicate), replaces (on the survivor), seealso, refer.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R5 Patient/$merge operation: source + target; result sets source active=false + link.type=replaced-by → target; preview=true simulates; the server must re-point all resources referencing the source and should write a Provenance for the merge event.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Guarantor/financials: RelatedPerson/Account.guarantor, Coverage.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Duplicate-review queue: Task resources over candidate Patient pairs.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3. Check-In / Arrival &amp; Queuing  (1/3)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Front-Office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Actors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Receptionist / patient access rep — works the arrival list (Epic: DAR, Department Appointments Report), verifies identity/demographics, collects payment, marks Arrived.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Patient — increasingly self-serves via kiosk/mobile pre-check-in (Epic Welcome/MyChart "eCheck-In", MEDITECH Expanse Patient Connect).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MA/nurse — pulls next patient from the waiting queue, rooms them.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Billing/eligibility engine — automated payer checks pre-visit and at arrival.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State machine / lifecycle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1. Pre-arrival (T-3 to T-1 days): batch real-time eligibility checks run against payers (X12 270/271); failures land on a work queue; prior-auth gaps flagged.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2. Arrival: patient identified (two identifiers; extra step if identity-theft flag). Appointment booked → arrived. Distinguish arrived (walked in the door) from checked-in (registration/financial clearance complete) — FHIR deliberately has both statuses.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3. Check-in tasks: verify demographics; update insurance; collect copay; MSPQ if applicable; questionnaires; labels/wristbands; portal signup prompt.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4. Queue: patient enters waiting-room queue visible to clinical staff (Epic DAR + rooming statuses; OpenMRS O3 Service Queues with per-queue statuses like Waiting for Service → In Service, priorities, and station-to-station transfers).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3. Check-In / Arrival &amp; Queuing  (2/3)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Front-Office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5. Encounter start: check-in creates/activates the visit. FHIR guidance: the Encounter is created when the patient arrives (status arrived), and creating it transitions the Appointment to fulfilled; Encounter then goes in-progress when care begins, finished at close.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6. Check-out: update registration, collect residual balances, schedule follow-up; Cerner requires Checked-In before Check Out is allowed.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Business rules &amp; edge cases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Copay/balance collection at check-in and check-out is a first-class workflow (MEDITECH surfaces copays/deductibles/balances at both points).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Eligibility failure at the desk: doesn't block clinical care — routes to a financial-counseling path. Financial clearance is a parallel gate, not a blocker to arrived.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Late arrival: policy-driven — convert to walk-in on a later slot or same-day reschedule rather than a bespoke "late" state.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Left without being seen: Encounter cancelled after arrived; the appointment is not fulfilled.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Undo: administrative states need reverse transitions (Bahmni allows undoing CheckedIn back to Scheduled); clinical/terminal ones (Completed) are irreversible.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Queue mechanics (OpenMRS O3): a queue entry = (patient, queue, priority, status, sort weight); status changes and inter-queue transfers end one QueueEntry and start another at the same timestamp, giving a full audit trail of waits per stage; "no show on call" pushes the patient back into the same queue flagged.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FHIR mapping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3. Check-In / Arrival &amp; Queuing  (3/3)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Front-Office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Encounter.status (R4): planned → arrived → triaged → in-progress → onleave → finished, exits cancelled | entered-in-error | unknown; statusHistory records each status+period so wait times are computable; Encounter.appointment links back; class with classHistory for ED→IP conversions. R5 note: arrived/triaged moved into Encounter.subjectStatus.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Eligibility: CoverageEligibilityRequest/CoverageEligibilityResponse; Coverage; Account + guarantor.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Queuing: no core FHIR queue resource in R4 — OpenMRS models QueueEntry natively; a FHIR-pure design uses Encounter.status + Task.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4. Walk-In / Urgent Flows vs Scheduled Visits; Triage Handoff  (1/2)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Front-Office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Actors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Receptionist — registers/looks up the walk-in, creates a same-day appointment or direct encounter, assigns queue + priority.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Triage nurse — first clinical touch; assesses acuity, re-prioritizes the queue, escalates emergencies out of the front-office flow entirely.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Provider — pulls from the prioritized queue.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State machine / lifecycle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Two production patterns: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1. Same-day-appointment pattern (Epic/Cerner/athena): the walk-in is booked into a walk-in/overbook slot on today's schedule and immediately checked in — reusing the entire scheduled-visit machinery (eligibility, copay, DAR visibility, billing linkage). Epic templates reserve color-coded urgent/walk-in blocks for exactly this.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2. Direct-encounter pattern (OpenMRS/Bahmni, ED flows): skip Appointment entirely — registration "starts a visit" (Encounter arrived), and the patient enters a triage queue with priority (Not urgent / Priority / Emergency); status runs Waiting for triage → Calling → In Service; after triage the patient is transferred to the next queue (consultation, lab, pharmacy).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Triage handoff at the front desk: the receptionist performs administrative sorting only; clinical acuity assignment is the triage nurse's, recorded as arrived → triaged (R4) with Encounter.priority. The front desk must have a bypass path: an unstable patient goes straight to clinical care with registration completed retroactively ("quick reg").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4. Walk-In / Urgent Flows vs Scheduled Visits; Triage Handoff  (2/2)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Front-Office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Business rules &amp; edge cases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Interleaving: queue position is a function of (priority, appointment time, arrival time) — scheduled patients keep slot precedence; walk-ins fill gaps; emergencies preempt everything.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Called but absent: mark "no show on call," push back into the same queue flagged — don't discard.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Walk-in billing: the same-day-appointment pattern exists largely so the walk-in inherits visit-type→billing mapping and eligibility checks.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Quick registration debt: any quick-reg record must land in a completion work queue.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FHIR mapping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Walk-in with same-day appointment: Appointment (created booked, immediately checked in) → Encounter.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Direct walk-in: Encounter created at arrived with no appointment reference; Encounter.priority for urgency.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Triage output: Observations (vitals) + Encounter.priority; queue movement as QueueEntry (or Task).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Emergency escalation: Encounter.class = EMER, with classHistory.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Cross-cutting design takeaways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Front-Office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1. Appointment and Encounter are separate state machines joined at check-in: Appointment is administrative (booked→fulfilled), Encounter is clinical (arrived→finished). Ordering constraints are enforced (no check-out without check-in; no charge entry without check-out).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2. Availability is template-driven, not ad hoc: recurring provider templates generate slots; slot-level constraints encode "what can be booked here"; template editing is a privileged role.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3. No-show is an explicit human decision; cancelled/no-show records are retained for analytics and waitlist backfill.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4. Registration creates identity; HIM corrects it. Front-end staff flag duplicates; merges run through a review queue with probabilistic scoring and dual thresholds.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5. Financial clearance (eligibility, copay) is fused into check-in but runs as a parallel gate that never blocks urgent clinical care.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6. Booking must be atomic under concurrency (Medplum's $book with serializable isolation is the reference open implementation).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7. Administrative transitions need undo; clinical/terminal ones don't.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E6B5C"/>
                </a:solidFill>
                <a:latin typeface="Segoe UI"/>
              </a:rPr>
              <a:t>Clinical Workflows</a:t>
            </a:r>
          </a:p>
          <a:p>
            <a:r>
              <a:rPr sz="1500">
                <a:solidFill>
                  <a:srgbClr val="5A6663"/>
                </a:solidFill>
                <a:latin typeface="Segoe UI"/>
              </a:rPr>
              <a:t>Encounters &amp; Notes · CPOE · Closed-Loop Medication · Nursing · ADT · Referrals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1. Encounter / Consultation Documentation  (1/3)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Clinical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Actors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Attending physician / LIP (licensed independent practitioner) — authors and signs notes, owns the encounter diagnosis, attests to resident/student documentation.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Resident / medical student / scribe — may author; note is pended until the supervising physician edits, attests, and cosigns (CMS allows teaching physicians to bill from a student's note only after editing and cosigning).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Nurse / MA — rooming, intake vitals, chief complaint capture (contributes structured data to the note, not the attestation).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HIM / compliance — deficiency tracking (unsigned-note queues), amendment governance.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State machine / lifecycle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FHIR Encounter.status (R4): planned → arrived → triaged → in-progress → onleave → finished (+ cancelled, entered-in-error, unknown). R5 revised this to: planned → in-progress → on-hold → discharged → completed (+ cancelled, discontinued, entered-in-error), with history moved into the separate EncounterHistory resource. A patient is considered admitted at minimum when status = in-progress.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Note lifecycle (the document, distinct from the encounter):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draft/pended → (preliminary) → signed/final → addended | amended | corrected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                                   ↘ entered-in-error (retract, never delete)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1. Encounter / Consultation Documentation  (2/3)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Clinical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7403B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FHIR `Composition.status`: `preliminary → final → amended/appended/corrected`; the spec states status only moves *down* the list — never back to a less-final state. `DocumentReference.docStatus` mirrors this for indexed notes.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**Production behavior:**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- **Epic**: notes are "pended" (shared draft) or "signed"; a signed note is immutable — changes create an **addendum** appended with its own author/timestamp; cosign deficiencies route to the attending's In Basket.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- **Cerner PowerChart**: documents move `In Progress → Auth (Verified)`; "Modify" on a signed doc produces a new version with the prior version retained and marked.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- **OpenMRS**: an `Encounter` belongs to a `Visit`; it holds 0..n `Obs` and 0..n `Orders`.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- **Medplum**: recommends the visit chart as structured resources — S/O as `Observation`s from `QuestionnaireResponse`s, A as `ClinicalImpression` (+ `Condition` for coded dx), P as `ServiceRequest`/`MedicationRequest`/`CarePlan` — and *signing = setting ClinicalImpression to `completed` and writing a `Provenance` record that locks the note*.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### Business rules &amp; safety logic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1. **Immutability after signature**: once e-signed, the record may only change via a separately signed, dated, timestamped addendum/amendment; the original is never overwritten. Late entries, addenda, amendments, and attestations are four distinct constructs, each labeled as such.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2. **Attestation**: the attester may differ from the author (FHIR `Composition.attester`); teaching-physician attestations must state presence/participation.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1. Encounter / Consultation Documentation  (3/3)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Clinical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3. Problem list vs. encounter diagnosis: an encounter diagnosis is a point-in-time assertion tied to a visit; the problem list is longitudinal and curated — systems require an explicit clinician action to promote an encounter diagnosis to the problem list.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4. Signing deadlines: medical staff bylaws set note-completion windows (commonly 24–72h); HIM deficiency queues suspend privileges for chronic delinquency.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5. Unsigned orders/notes never drive billing; charge capture is gated on final signature.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FHIR mapping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Concept | Resource / element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|---|---|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Visit | Encounter (status, class, period, participant, location) + EncounterHistory (R5)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Note document | Composition (status, attester, section) / DocumentReference (docStatus)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Assessment | ClinicalImpression (status: in-progress → completed)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Encounter dx | Condition category = encounter-diagnosis; also Encounter.diagnosis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Problem list | Condition category = problem-list-item, clinicalStatus, verificationStatus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Signature | Provenance (+ Signature datatype), Composition.attester |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2. CPOE — Lab &amp; Imaging Order Lifecycle  (1/3)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Clinical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Actors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Ordering provider (physician/NP/PA) — only LIPs within scope of practice may place &amp; sign orders; verbal/telephone orders may be enacted by authorized licensed staff but must be authenticated by a practitioner within 48 hours (CMS CoP 42 CFR 482.24).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Nurse / phlebotomist — specimen collection, order acknowledgement on the unit.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Lab tech / radiology tech — performs; only the performing lab (CLIA-certified) may result; a pathologist/radiologist verifies and finalizes reports.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Ordering/covering provider — must review and acknowledge results; critical results require a closed acknowledgement loop.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State machine / lifecycle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Canonical (matches Cerner's literal statuses):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draft (unsigned/held) → signed/active ("Ordered")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 → specimen collected ("In Process")           [labs]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 → performed/exam completed                    [imaging]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 → preliminary result → final result ("Completed")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 → reviewed/acknowledged by provider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Terminal alternates: cancelled (before start) | discontinued (after start) | entered-in-error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2. CPOE — Lab &amp; Imaging Order Lifecycle  (2/3)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Clinical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Cerner: blank → Ordered → In Process → Completed / Discontinued / Canceled; allowable actions (Modify, Activate, Cancel/DC, Cancel-and-Reorder, Complete) depend on current status.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Epic: order signed → released → collected → in lab → prelim → final; results route to the ordering provider's In Basket Results folder.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OpenMRS: immutable order rows linked by previousOrder — actions are NEW, REVISE, DISCONTINUE, RENEW.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Medplum: ServiceRequest updated as it moves through workflow; DiagnosticReport.basedOn → ServiceRequest; Subscriptions + Bots emit HL7 ORM/ORU.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Result side: Observation.status: registered → preliminary → final → amended/corrected. DiagnosticReport.status: registered → partial → preliminary → final → amended/corrected/appended. Specimen.status: available | unavailable | unsatisfactory | entered-in-error — "unsatisfactory" drives redraw/recollect loops.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Business rules &amp; safety logic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1. Order signature gating: unsigned orders execute nothing; cosign-required orders sit in a cosign queue (48h CMS rule).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2. Critical results (Joint Commission NPSG.02.03.01): the org defines critical values, who reports to whom, and the maximum time from availability to report; the lab calls the responsible caregiver directly, documents read-back, and the loop of receipt → acknowledgement → action must close — with escalation if unacknowledged within a timeout.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2. CPOE — Lab &amp; Imaging Order Lifecycle  (3/3)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Clinical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3. Specimen integrity: positive patient ID at collection (barcode wristband scan); mislabeled/hemolyzed specimens flip to unsatisfactory and force reorder, never relabel.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4. Duplicate order checking, corollary orders (e.g., creatinine before contrast), and indication requirements on imaging (reason-for-exam mandatory).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5. Result → order provenance: results always link back to the placer order; amended results re-trigger provider notification.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6. Separation of duties: ordering ≠ resulting. Nurses can collect and acknowledge receipt but not author results.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FHIR mapping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Step | Resource / status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|---|---|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Order | ServiceRequest.status: draft → active → completed (revoked, on-hold, entered-in-error); intent: order; category: laboratory/imaging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Fulfillment tracking | Task basedOn ServiceRequest: requested → accepted → in-progress → completed / rejected / failed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Specimen | Specimen (status; collection details)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Result values | Observation.status + interpretation (H/L/HH/LL critical flags)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Report | DiagnosticReport.status; basedOn → ServiceRequest; result → Observations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Acknowledgement | Communication / Task (ack task on critical result) + Provenance |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3. Closed-Loop Medication Management  (1/3)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Clinical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Actors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Prescriber (LIP) — creates MedicationRequest; responds to pharmacist clarifications.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Pharmacist — verifies every inpatient med order before first dose (except ED stat/override); may reject/clarify; performs therapeutic substitution per formulary policy.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Pharmacy tech — fills, compounds, stocks ADCs; pharmacist checks the fill.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Nurse — administers via BCMA/MAR; documents given/held/refused/wasted; second-nurse cosign for high-alert meds.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CDS engine — interaction/allergy/dose-range checking at both prescribing and verification.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State machine / lifecycle (the closed loop)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PRESCRIBE   MedicationRequest: draft → active (signed)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               └ pharmacist verification gate ─ verify → order releases to MAR/ADC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                                              ─ reject/clarify → back to prescriber (order held)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DISPENSE    MedicationDispense: preparation → in-progress → completed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               (cancelled | on-hold | declined | stopped | entered-in-error)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ADMINISTER  MedicationAdministration: in-progress → completed | not-done (reason) | stopped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MONITOR     Observation (levels, vitals), AdverseEvent; MedicationStatement for reconciliation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END         MedicationRequest: completed | stopped | cancelled | on-hold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3. Closed-Loop Medication Management  (2/3)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Clinical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Epic (Willow): signed orders land on the pharmacist Verify queue; unverified orders don't appear as due tasks on the nurse's MAR (auto-verify exceptions for ED/override pulls).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Cerner: PharmNet verification; medication order actions Modify/Cancel-DC/Suspend/Resume/Complete.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FHIR medications module: MedicationRequest = intent; Dispense and Administration are created by fulfillment workflow and may deliberately differ from the order where the dispenser exercised clinical judgment.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Business rules &amp; safety logic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1. No administration without pharmacist verification (first-dose review) — bypass exists only as a formal override pull from the ADC for emergencies, which generates a retrospective pharmacist review queue.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2. Five rights enforced by BCMA: nurse scans patient wristband then medication barcode; system validates right patient, drug, dose, route, time against the verified order and blocks/warns on mismatch.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3. Timing windows (ISMP, adopted by CMS): time-critical meds ±30 min; non-time-critical ±1 hour (q4h–q24h) / ±2 hours (daily+). The MAR colors/flags due, early, late, overdue; nurses must document the exact administration time.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4. High-alert medications (heparin, insulin, concentrated electrolytes, chemo): independent double-check / second-nurse cosign in the MAR.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5. CDS at two points: prescriber sees allergy/interaction/dose-range/duplicate alerts at entry; pharmacist sees them again at verification with override-reason documentation.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6. Formulary &amp; stock: order entry constrains to formulary; ADC stock is patient-profile-restricted; controlled-substance returns/wastes require witnessed countersign.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3. Closed-Loop Medication Management  (3/3)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Clinical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7. Rejection loop: pharmacist rejection puts the order in a held state and pushes a message to the prescriber; nothing silently disappears.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8. Not-given documentation: a due MAR task can only be resolved as given, held (reason), refused (reason), or missed — blank boxes are compliance findings.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FHIR mapping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Step | Resource / status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|---|---|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Prescription | MedicationRequest.status: draft → active → completed/stopped/cancelled/on-hold; dispenseRequest, dosageInstruction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Verification | Task (verify) on the MedicationRequest, or Provenance of pharmacist action; rejection = Task rejected + Communication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Dispense | MedicationDispense.status; substitution element records interchange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Administration | MedicationAdministration.status; not-done with statusReason; performer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MAR schedule | Derived from dosageInstruction.timing → per-dose Tasks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Home meds | MedicationStatement (basis for reconciliation)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Allergy/CDS | AllergyIntolerance, DetectedIssue (with override reason) |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4. Nursing Workflows  (1/3)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Clinical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Actors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Charge nurse — makes patient assignments (nurse↔patient/bed mapping per shift, acuity-balanced); owns the unit status board.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Bedside RN — task list execution: assessments, vitals, MAR, intake/output, care-plan interventions, handoff.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Nursing assistant / PCT — delegated vitals, ADLs; documents within their permitted scope.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Off-going / on-coming RN — structured shift handoff.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State machine / lifecycle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Task list (the nurse's work queue is generated, not hand-built): active orders + care-plan interventions + med schedule project into time-bucketed tasks: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scheduled/due → overdue (escalating visual state) → done (documented) | not done (reason)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MEDITECH Expanse: the Status Board/Tracker is the entry point; the Worklist documents Interventions, Outcomes, and Medications; status boards exist per role.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Epic: Brain (nurse narrator timeline), Work List, Rover mobile; Cerner: CareCompass task list + iView flowsheets.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4. Nursing Workflows  (2/3)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Clinical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F2A28"/>
                </a:solidFill>
                <a:latin typeface="Segoe UI"/>
              </a:rPr>
              <a:t>Vitals capture: device/manual entry → flowsheet row → Observation (category vital-signs, LOINC-coded). Out-of-range values trigger early-warning scores (MEWS/NEWS) and rapid-response triggers.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Shift handoff: structured SBAR or I-PASS templates embedded in the EHR; every patient, every shift change, with receiver read-back/synthesis.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Business rules &amp; safety logic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1. Assignment gates documentation: you chart on patients on your list; access to non-assigned patients is break-the-glass with audit.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2. MAR timing windows render due/late states; overdue time-critical meds escalate visually and via notification.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3. Delegation boundaries: PCTs can file vitals but not assess; abnormal vitals filed by a PCT route a review task to the RN.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4. Scope-locked flowsheets: restraint documentation q15min timers, pain reassessment post-PRN, turn schedules — recurring tasks with mandatory completion or exception reason.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5. Handoff standardization is a Joint Commission communication requirement; I-PASS adoption measurably reduces preventable adverse events.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6. Early warning scoring: threshold crossings force an "RN notified / provider notified" documentation loop.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FHIR mapping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Concept | Resource |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4. Nursing Workflows  (3/3)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Clinical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F2A28"/>
                </a:solidFill>
                <a:latin typeface="Consolas"/>
              </a:rPr>
              <a:t>|---|---|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Task list item | Task (basedOn order/CarePlan activity; owner; restriction.period = due window)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Vitals | Observation (category vital-signs, hasMember for panels)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Care plan interventions | CarePlan.activity → Tasks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Assignment | Encounter.participant or CareTeam per shift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Handoff | Composition (handoff note type); I-PASS/SBAR as section structure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MAR row | scheduled MedicationAdministration / Task per dose |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5. Admission / Transfer / Discharge (ADT) &amp; Bed Management  (1/3)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Clinical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Actors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Admitting provider — writes the admission order (inpatient vs observation, level of care, admitting dx, attending) — nothing is an admission without this signed order.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Bed manager / patient placement (Epic Grand Central, Cerner Capacity Management) — matches bed requests to beds using unit, level of care, isolation, sex, telemetry needs.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Charge nurse (sending &amp; receiving units) — accepts transfers, nurse-to-nurse handoff.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EVS (environmental services) — bed turnover; case management — discharge planning from day 1.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Discharging provider — discharge order, discharge summary, discharge med reconciliation.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State machine / lifecycle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Encounter: planned (preadmit) → arrived → in-progress (admitted) → [onleave] → discharged → finished, with each physical move appended to Encounter.location history.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HL7 v2 event backbone: A01 admit, A02 transfer, A03 discharge, A04 register outpatient, A05 preadmit, A06/A07 change patient class (obs↔inpatient), A08 update, A11/A12/A13 cancel admit/transfer/discharge.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Bed lifecycle: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clean/available → assigned/reserved → occupied → (patient discharged/transferred)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  → dirty → cleaning-in-progress → clean/available     (+ blocked/maintenance)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5. Admission / Transfer / Discharge (ADT) &amp; Bed Management  (2/3)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Clinical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7403B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In Epic, discharge/transfer *automatically* fires the bed-clean request to EVS; terminal cleans auto-prioritize when a waiting patient is assigned.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**Transfer logic:** transfer order (level of care change) → bed request → placement assigns target bed → receiving RN accepts (handoff) → patient moves → A02 fires → **level-of-care-dependent orders (drips, monitoring, restraints) require review/reorder on transfer**.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**Discharge workflow:** discharge planning in parallel → provider signs **discharge order** → discharge checklist gates: discharge med reconciliation, prescriptions, patient instructions (AVS), follow-up appointments, pending-results flagging → nurse completes discharge documentation → A03 → bed to dirty → **discharge summary** signed (CMS CoP: within 30 days; bylaws usually far sooner).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### Business rules &amp; safety logic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1. **Admission requires a signed order from a practitioner with admitting privileges**; patient class changes are formal orders with regulatory consequences.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2. **Bed assignment constraints**: sex-segregated rooms, isolation compatibility, telemetry/negative-pressure capability, age, acuity vs unit staffing.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3. **Orders don't silently survive transitions**: transfer triggers order reconciliation; many systems auto-suspend or force review of all active orders on level-of-care change.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5. Admission / Transfer / Discharge (ADT) &amp; Bed Management  (3/3)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Clinical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4. Discharge med reconciliation is a hard gate (NPSG.03.06.01); admission reconciliation is the mirror-image gate at entry.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5. Pending-at-discharge results route to a responsible-provider queue so nothing is orphaned.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6. Leave of absence (onleave) is distinct from discharge — the bed is held, meds are suspended, not discontinued.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7. Discharge is not chart closure: the encounter stays open for late documentation until HIM analysis marks it complete.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FHIR mapping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Concept | Resource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|---|---|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Stay | Encounter (class = IMP/OBSENC; hospitalization: admitSource, dischargeDisposition; location[] with period + status)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Bed/unit | Location (physicalType: bed/room/ward; operationalStatus: occupied, unoccupied, housekeeping, closed, contaminated, isolated)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ADT orders | ServiceRequest (admit/transfer/discharge) or Task; v2 ADT events on the wire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Discharge summary | Composition (LOINC 18842-5) / DocumentReference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Med rec | MedicationStatement (home) vs MedicationRequest (inpatient/discharge) + List (reconciled)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Discharge dx | Encounter.diagnosis (use = discharge), Condition |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6. Referrals &amp; In-Hospital Handoffs (Consults)  (1/3)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Clinical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Actors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Referral initiator (PCP / attending) — creates referral/consult request with reason + supporting info.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Referral recipient (specialist / consulting service) — accepts or declines, performs, returns findings.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Referral coordinator / scheduler — insurance auth, appointment booking (ambulatory).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Consulting service resident/fellow → attending — in-hospital consult chain; consult note requires attending attestation.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State machine / lifecycle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Cross-organization closed-loop referral (IHE 360X / HL7 BSeR): the referral is a ServiceRequest whose progress is tracked on a Task: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requested → (recipient) received → accepted | rejected/declined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 accepted → scheduled → in-progress (patient seen)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 → completed (consult report/outcome returned to initiator)  ← the "closed loop"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 cancelled (initiator withdraws) | failed (patient no-show → notify initiator)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360X exists precisely because most referrals historically died silently — every state change generates a notification back to the requester.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6. Referrals &amp; In-Hospital Handoffs (Consults)  (2/3)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Clinical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F2A28"/>
                </a:solidFill>
                <a:latin typeface="Segoe UI"/>
              </a:rPr>
              <a:t>In-hospital consult: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consult order (ServiceRequest, priority stat/routine) → consult service notified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→ acknowledged → patient seen → consult note (recommendations)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→ recommendations actioned by primary team (consultant recommends, primary team orders)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→ sign-off or co-management continues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Business rules &amp; safety logic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1. Closed-loop mandate: a referral without a returned outcome is an open patient-safety item; systems track "referral aging" queues and auto-remind.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2. Consultant vs. primary authority: the consultant recommends; the primary team orders (except co-management).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3. Required content: reason, urgency, relevant results/meds/allergies; "reason for consult" is a mandatory field.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4. Timeliness SLAs: stat consults acknowledged within defined minutes; routine within 24h — tracked on Task timestamps.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5. Declines must be communicated, never silent.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6. Transitions of care require an accompanying document (C-CDA referral note / FHIR document).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6. Referrals &amp; In-Hospital Handoffs (Consults)  (3/3)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Clinical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FHIR mapping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Concept | Resource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|---|---|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Referral/consult request | ServiceRequest (intent = order; category = referral; priority; reasonCode; supportingInfo)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Loop tracking | Task (basedOn ServiceRequest): requested → received → accepted/rejected → in-progress → completed/failed/cancelled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Consult report | Composition/DocumentReference (consult note LOINC 11488-4) |</a:t>
            </a:r>
          </a:p>
          <a:p>
            <a:r>
              <a:rPr sz="1050">
                <a:solidFill>
                  <a:srgbClr val="1F2A28"/>
                </a:solidFill>
                <a:latin typeface="Consolas"/>
              </a:rPr>
              <a:t>| Care responsibility | CareTeam, Encounter.participant (consultant role) |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Cross-cutting design principles (what all five production systems share)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Clinical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1. Orders are the spine. Every clinical action originates from a signed order by an authorized role; execution artifacts always link back to the order, and status is tracked on both the request (intent) and a fulfillment record (Task/event resource).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2. Nothing is deleted. Wrong entries become entered-in-error; signed documents get addenda; OpenMRS makes orders fully immutable rows chained by previousOrder.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3. Gates, not vibes. Safety is enforced as hard state-transition gates: no MAR task without pharmacist verification; no administration without wristband scan; no discharge without med rec; no billing without signature; verbal orders expire into deficiency queues at 48h.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4. Every loop must close with an acknowledgement by a named human — critical results, referrals, cosigns, clarifications — and unclosed loops escalate on timers.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5. Role separation is structural: orderer ≠ verifier ≠ administrator ≠ resulter, each transition stamped with performer + time (Provenance).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E6B5C"/>
                </a:solidFill>
                <a:latin typeface="Segoe UI"/>
              </a:rPr>
              <a:t>Back-Office &amp; Security</a:t>
            </a:r>
          </a:p>
          <a:p>
            <a:r>
              <a:rPr sz="1500">
                <a:solidFill>
                  <a:srgbClr val="5A6663"/>
                </a:solidFill>
                <a:latin typeface="Segoe UI"/>
              </a:rPr>
              <a:t>Revenue Cycle · HIM · Security &amp; Break-Glass · Account Lifecycle · Inventory · Messaging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1. Revenue Cycle / Billing  (1/4)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Back-Office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Actors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Registrar / front desk — captures demographics, insurance, runs eligibility (270/271), collects copays upfront.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Clinician — generates charges implicitly by documenting/signing orders, procedures, and E&amp;M levels during the encounter.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Charge router / charge review analyst — works charge review work queues (missing modifiers, unpriced charges).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Coders (HIM) — facility coders (hospital: ICD-10-CM/PCS, DRG) and professional coders (physician: CPT/HCPCS + ICD-10-CM). CDI specialists query physicians for documentation gaps before final coding.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Biller / claims analyst — works claim edit queues, submits 837s.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AR follow-up / denials specialist — works denial queues, files appeals.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Payment poster — posts 835 remittances and patient payments.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Workflow / lifecycle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Epic model (Resolute HB/PB): eligibility verification → clinical documentation → charge capture → coding → claim scrubbing → submission → payment posting → denial follow-up, with work queues routing tasks. Charges flow directly from the signed clinical chart into billing.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Canonical claim state machine: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1. Revenue Cycle / Billing  (2/4)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Back-Office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F2A28"/>
                </a:solidFill>
                <a:latin typeface="Segoe UI"/>
              </a:rPr>
              <a:t>Encounter closed → CHARGES CAPTURED → [charge review WQ: hold/edit]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→ CODING (facility acct sits in DNFB until coded)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→ CLAIM DRAFT → SCRUBBER EDITS (pass/fail; fail → claim edit WQ, loop)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→ SUBMITTED (837P/837I via clearinghouse)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→ 999 ack (syntax) → 277CA (accepted/REJECTED — rejected never adjudicated: fix &amp; resubmit)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→ ADJUDICATION at payer (query via 276/277)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→ 835 ERA: PAID | PARTIALLY PAID | DENIED (CARC/RARC codes)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→ DENIED → denial WQ by denial category → CORRECTED CLAIM (resubmit) or APPEAL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→ appeal upheld/overturned → residual balance → PATIENT RESPONSIBILITY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→ statement cycle → payment plan → collections → write-off/charity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Key distinction: **rejection** (never entered adjudication — nothing to appeal, correct and resubmit) vs **denial** (adjudicated and refused — appealable, with CARC reason codes). 835s typically arrive 7–21 days post-submission. Epic's denial module auto-classifies denials by CARC/RARC and routes to work queues organized by denial type.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**athenahealth model:** athenaCollector scrubs every claim against a network-wide rules engine (~29,000+ payer rules) *before* submission; claims failing rules drop into **HOLD buckets** for staff review, giving ~98% first-pass acceptance. Design takeaway: a pre-submission rules engine with named hold states is the athena signature pattern.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1. Revenue Cycle / Billing  (3/4)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Back-Office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Coding workflow &amp; DNFB: Inpatient accounts post-discharge sit in DNFB (Discharged Not Final Billed) until coding completes; DNFB days are a core KPI. Clinicians never final-code facility claims.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Self-pay vs insurance: self-pay skips the payer loop entirely — no claim, no EOB; account goes charges → patient statement. Production systems run propensity-to-pay scoring to route patients to point-of-service collection, payment plans, or charity-care screening.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Rules &amp; compliance logic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Eligibility verified before/at service (270/271 or FHIR CoverageEligibilityRequest).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Claims must pass payer-specific edits before release; failed edits loop to work queues, never auto-submit.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Timely-filing deadlines per payer (the state machine needs a deadline clock per claim).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Only signed documentation is codeable; code changes after claim submission require corrected-claim logic, not silent edits.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Payment posting must reconcile 835 totals to bank deposits.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FHIR mapping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Coverage — insurance plan/subscriber. CoverageEligibilityRequest/Response — 270/271 equivalent.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ChargeItem — one billable service event; claim lines derive from ChargeItems; pricing rules in ChargeItemDefinition.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Account — the bucket ChargeItems link to; guarantor container.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1. Revenue Cycle / Billing  (4/4)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Back-Office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Claim (status: draft | active | cancelled | entered-in-error; use: claim/preauthorization/predetermination) — the 837 equivalent.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ClaimResponse — payer adjudication (outcome: queued/complete/error/partial); adjudication ≠ payment.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Invoice — patient-facing bill (draft → issued → balanced → cancelled) — the self-pay path.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PaymentNotice/PaymentReconciliation — correlates a bulk payment (835) to individual ClaimResponses/Invoices.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Medplum implements this module and recommends Bot/Subscription-driven sync to clearinghouses.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2. HIM / Medical Records  (1/4)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Back-Office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Actors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Patient — may request amendment; never edits the record directly.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HIM department — owns amendment intake, merge/unmerge, ROI, retention.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Registration staff — may correct demographics per their role; demographic edits are low-privilege but audited.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Authoring clinician — the only person who corrects clinical content they authored (addendum/late entry/correction).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Privacy officer — adjudicates contested amendments, ROI edge cases.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EMPI/identity team — patient matching, merges.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Workflow / lifecycle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A. Clinical correction (clinician-initiated): signed note → author opens addendum or marks entered-in-error → original version retained in history → correction signed → audit trail. Never physical deletion.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B. Patient amendment request (HIPAA §164.526):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RECEIVED (written request + reason)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→ UNDER REVIEW (HIM routes to record author/provider)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→ decision within 60 days (+ one 30-day extension with written notice)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2. HIM / Medical Records  (2/4)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Back-Office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F2A28"/>
                </a:solidFill>
                <a:latin typeface="Segoe UI"/>
              </a:rPr>
              <a:t>→ ACCEPTED: make/link the amendment, tell the patient, notify prior recipients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→ DENIED (only if: not created here, not in designated record set, not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 available for access, or record is accurate &amp; complete):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 written denial + patient may file a STATEMENT OF DISAGREEMENT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 → entity may add rebuttal → disagreement + rebuttal travel with all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 future disclosures of the disputed item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The amendment *appends*, it never overwrites; no fee may be charged.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**C. Duplicate merge / EMPI:**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candidate pair detected (deterministic + probabilistic scoring)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→ auto-link (high confidence) | HUMAN REVIEW QUEUE (ambiguous) | reject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→ HIM analyst verifies (never auto-merge ambiguous — overlay risk)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→ MERGE: choose surviving MRN; survivorship rules build the golden record;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 preserve all identifiers/history and provenance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→ publish merge event downstream; track acknowledgement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→ UNMERGE remains possible via preserved lineage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2. HIM / Medical Records  (3/4)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Back-Office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D. Release of Information (ROI):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REQUEST RECEIVED (patient, attorney, payer, subpoena…)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→ VALIDATE authority (right-of-access vs third-party authorization)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→ SCOPE: minimum necessary; screen super-protected classes (42 CFR Part 2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 SUD, psychotherapy notes, HIV/genetics per state law)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→ RETRIEVE + QC → DELIVER via secure channel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→ LOG in ACCOUNTING OF DISCLOSURES (6-year accounting available to patient)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Right-of-access clock: 30 days (+30 extension).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Rules &amp; compliance logic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Demographics vs clinical split: registration roles edit demographics; clinical content only via author addendum or HIM-mediated amendment. Everything versioned and audited.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Retention: HIPAA sets 6 years for compliance documentation; medical-record retention is state law (commonly 5–10 years, longer for minors).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FHIR mapping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2. HIM / Medical Records  (4/4)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Back-Office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Corrections = resource versioning (_history) + status: entered-in-error.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Provenance — asserted at write time (who, why, prior versions, signatures); targets the new version of an amendment.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AuditEvent — recorded by the server as events occur (reads included); Provenance = record-keeping assertion, AuditEvent = security log.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Merge: Patient.link (replaced-by/replaces) + Patient.active=false; R5 $merge operation.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ROI: Consent, DocumentReference/Bundle, AuditEvent with purposeOfUse.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3. Security &amp; Access Control  (1/3)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Back-Office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Actors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End users (clinical/admin roles) · security analysts · privacy/compliance office (audit review) · CISO/IT security · patients (flagged/confidential charts).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Workflow / lifecycle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Role templates. Epic: users are assigned security classes wrapped in user templates per job role — change the template, all linked users update. Cerner uses position-based security. Medplum: AccessPolicy resources restrict read/write per resource-type and per-field, attached via ProjectMembership; parameterized policies let one template serve many users.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Break-the-glass (BTG) state machine (Epic pattern):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chart flagged (VIP / employee / behavioral health / restriction)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 OR user outside defined care team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→ WARNING SCREEN: user must select/enter access reason (+ often re-enter password)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→ decline → no access, event still may be logged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→ proceed → TIME-LIMITED elevated access granted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→ AUDIT RECORD (user, time, patient, reason, actions taken)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→ compliance office auto-notified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3. Security &amp; Access Control  (2/3)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Back-Office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F2A28"/>
                </a:solidFill>
                <a:latin typeface="Segoe UI"/>
              </a:rPr>
              <a:t>→ COMPLIANCE REVIEW: warranted (close) | unwarranted → sanctions workflow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Medplum's version: explicit reason required, scope to smallest useful set, short-lived session or temporary ProjectMembership, review AuditEvents after the window closes — maps to ONC §170.315(d)(6) Emergency Access.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**Session management / shared workstations:**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- HIPAA §164.312(a)(2)(iii): "terminate an electronic session after a predetermined time of inactivity." Risk-based — common practice **1–3 min in clinical areas, 10–15 min administrative**, re-auth on resume.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- **Tap-in/tap-out (Imprivata):** badge tap → workstation unlocks with the EMR already in context; tap-out → "Secure" (screen lock preserving patient context); **Fast User Switching** hands the workstation between staff; badge tap satisfies MFA for signing workflows.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- **Patient-context safety:** persistent patient banner (name, DOB, MRN, photo, allergies) on every screen; limits on concurrently open charts; wrong-chart alerts on rapid user switching.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### Rules &amp; compliance logic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- **Minimum necessary (§164.502(b)):** written role-based access matrix; must justify every element. Exceptions: treatment disclosures, patient's own access, authorized disclosures.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- **Audit controls (§164.312(b), required):** log logon/logoff (success+failure), every PHI view/create/update/delete/print/export, BTG events, config changes; logs immutable, regularly reviewed, retained ≥6 years.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- Unique user identification (required) — no shared accounts.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3. Security &amp; Access Control  (3/3)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Back-Office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Sensitive-category overlays (psych, SUD/42 CFR Part 2, adolescent, VIP) sit on top of RBAC and trigger BTG.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FHIR mapping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AccessPolicy (Medplum), FHIR Consent for patient-directed restrictions, security labels (meta.security) for sensitive segments.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AuditEvent — the canonical log record (agent, source, entity, purposeOfUse; BTG conveyed via purposeOfUse BTG/ETREAT).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ONC §170.315(d)(6) emergency access is the certification hook for BTG.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4. User / Account Lifecycle  (1/2)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Back-Office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Actors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HR (source of truth for joiners/movers/leavers) · hiring manager · application/security analyst · data owner/compliance · IAM/IGA platform.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Workflow / lifecycle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JOINER: HR record created → access request with ROLE from approved catalog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→ manager + data-owner approval (auditable, no ad-hoc grants)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→ account provisioned from role template on day one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→ TEMPORARY PASSWORD issued → forced change at first login → MFA enrollment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→ training/attestation gate before go-live access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MOVER: job-code change → automatic re-evaluation → old entitlements removed,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new template applied (prevents privilege accumulation)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PERIODIC REVIEW: monthly for privileged/critical EHR roles, quarterly for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sensitive apps; manager attests each entitlement → revoke stale access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LEAVER: HR termination event → SAME-DAY deprovision across EHR, VPN, email,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badge → account disabled (not deleted, to preserve audit attribution)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4. User / Account Lifecycle  (2/2)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Back-Office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F2A28"/>
                </a:solidFill>
                <a:latin typeface="Segoe UI"/>
              </a:rPr>
              <a:t>→ periodic orphan-account sweep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### Rules &amp; compliance logic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- HIPAA §164.308(a)(3) Workforce Security — authorization/supervision, clearance, **termination procedures**; §164.308(a)(4) requires documented access authorization.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- Prompt credential removal for departing staff, contractors, affiliates, volunteers.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- All grants/changes flow through auditable workflows; evidence retained.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- Temporary/first-login passwords must be single-use with forced reset.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### FHIR mapping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Medplum: `User` (login identity) → `ProjectMembership` (project + AccessPolicy binding) → profile resource (`Practitioner`); invite flow generates temporary credentials; `PractitionerRole` carries org/role/specialty; provisioning events logged as `AuditEvent`.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5. Inventory / Pharmacy Stock &amp; Supply Chain  (1/2)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Back-Office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Actors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Pharmacy buyer/technician (POs, restock) · pharmacist (verification, recalls, formulary) · pharmacy manager (par levels) · automated dispensing cabinets (Pyxis/Omnicell) as system actors · materials management.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Workflow / lifecycle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Epic Willow inventory: multi-facility perpetual inventory decremented on dispense, returns and waste tracking, stock transfers, purchase-order generation, supplier interfaces (EDI 832/850/855/810).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Canonical stock state machine per item/location: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stocked → decrement on dispense/administration → quantity ≤ REORDER POINT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→ reorder line auto-generated → PO draft → approved → sent to wholesaler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→ acknowledged → received (invoice matched to PO) → restocked to PAR LEVEL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Parallel: lot/expiration tracked per stock line → nearing-expiry report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→ pull/return-for-credit → expired → quarantine → destruction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Recall: lot lookup → affected stock + affected patients (via lot-level records)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ADC loop (Pyxis/Omnicell): cabinets hold par-defined stock; every vend/return updates perpetual counts; cabinet generates restock lists; blind counts for controlled substances with discrepancy resolution.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5. Inventory / Pharmacy Stock &amp; Supply Chain  (2/2)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Back-Office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Rules &amp; compliance logic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Controlled substances: DEA Schedule II perpetual count + witness/discrepancy workflows; diversion monitoring analytics.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FEFO (first-expired-first-out) picking; expired stock must not be dispensable (hard stop).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• Lot/expiry capture at receiving enables recall-to-patient traceability.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FHIR mapping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Weakest FHIR area; the working set: Medication (+ batch.lotNumber/expirationDate), MedicationDispense (decrement event), SupplyRequest (internal restock), SupplyDelivery (fulfillment), InventoryItem/InventoryReport (R5+), Location for storage sites, ChargeItem when dispense is billable. Purchase orders to wholesalers remain EDI territory.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6. Communication: Secure Messaging &amp; Results Routing  (1/2)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Back-Office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Actors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Ordering provider (owns result acknowledgement) · covering provider/pool (delegation) · nurses/MAs (triage pools) · patients (portal messages) · system (auto-generated messages).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6B5C"/>
                </a:solidFill>
                <a:latin typeface="Segoe UI"/>
              </a:rPr>
              <a:t>Workflow / lifecycle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Epic In Basket: messaging inside the EHR; messages target individuals or pools; some message types auto-generate on events — result finalized, order needing cosignature, chart CC. Lab/imaging finalization automatically generates a Results message to the ordering provider. Coverage delegation, pool-based triage, escalation/overdue tracking.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Cerner Message Center: folders (Results, Documents, Orders, Reminders). Endorsement = acknowledgement; OK &amp; Next confirms and advances — only then does the item clear; Save does NOT acknowledge.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Canonical result-acknowledgement state machine: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result FINALIZED by lab/rad system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→ routed to ordering provider's inbox (+ CC recipients, pools)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 [critical value: parallel synchronous call/read-back per CLIA/Joint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  Commission — inbox alone is insufficient for criticals]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→ NEW/UNREAD → VIEWED (not yet acknowledged — distinct state)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6. Communication: Secure Messaging &amp; Results Routing  (2/2)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Back-Office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F2A28"/>
                </a:solidFill>
                <a:latin typeface="Segoe UI"/>
              </a:rPr>
              <a:t>→ actions: result note / forward / reply / portal release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→ ACKNOWLEDGED (endorse/"Done") → removed from pending; ack audited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→ not acked within SLA → overdue escalation (covering provider / supervisor)</a:t>
            </a:r>
          </a:p>
          <a:p>
            <a:r>
              <a:rPr sz="1250">
                <a:solidFill>
                  <a:srgbClr val="1F2A28"/>
                </a:solidFill>
                <a:latin typeface="Segoe UI"/>
              </a:rPr>
              <a:t>Coverage: provider out-of-office → auto-delegate inbox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Design invariants: every result must have exactly one accountable owner at all times; viewing ≠ acknowledging; acknowledgement is per-provider and audited; unacknowledged-results reports are a patient-safety control.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### Rules &amp; compliance logic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- Secure messaging must stay in-system (no PHI to personal email/SMS), all reads/sends audited.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- Critical results: documented notification with read-back within defined timeframes (NPSG.02.03.01).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- Cosignature: orders/notes by residents, verbal orders route via the same inbox machinery.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### FHIR mapping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- **`Communication`** / **`CommunicationRequest`** — sent/planned messages.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- **`DiagnosticReport.status`** drives routing triggers; result ack modeled as a `Communication` or a `Task` (`requested` → `completed`) assigned to the ordering `Practitioner`, with `AuditEvent` for the ack.</a:t>
            </a:r>
          </a:p>
          <a:p>
            <a:r>
              <a:rPr sz="1150">
                <a:solidFill>
                  <a:srgbClr val="27403B"/>
                </a:solidFill>
                <a:latin typeface="Consolas"/>
              </a:rPr>
              <a:t>- **`Task`** is the right resource for inbox items generally (cosign requests, overdue escalation via `restriction.period`).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6B5C"/>
                </a:solidFill>
                <a:latin typeface="Segoe UI"/>
              </a:rPr>
              <a:t>Cross-cutting design principles (for the prototype)</a:t>
            </a:r>
          </a:p>
          <a:p>
            <a:r>
              <a:rPr sz="1200">
                <a:solidFill>
                  <a:srgbClr val="5A6663"/>
                </a:solidFill>
                <a:latin typeface="Segoe UI"/>
              </a:rPr>
              <a:t>Back-Office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201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1. Nothing is ever deleted — every state machine ends in disabled/voided/entered-in-error/superseded, never row deletion; audit attribution depends on it.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2. Work queues are the universal back-office primitive (Epic WQs, athena hold buckets, denial queues, merge review queues, amendment queues): items enter on rule failure or event, are owned by a role, and exit only via an explicit disposition.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3. Templates over per-user grants — role/security templates + exception overlays (BTG) + per-patient restrictions, each layer independently audited.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4. Viewing, saving, and acknowledging are three different states in every review workflow (results, denials, amendments).</a:t>
            </a:r>
          </a:p>
          <a:p>
            <a:pPr/>
            <a:r>
              <a:rPr sz="1250">
                <a:solidFill>
                  <a:srgbClr val="1F2A28"/>
                </a:solidFill>
                <a:latin typeface="Segoe UI"/>
              </a:rPr>
              <a:t>5. Every privileged exception generates a review obligation — BTG → compliance review; merge → downstream ack tracking; disclosure → accounting entry; termination → same-day revocation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